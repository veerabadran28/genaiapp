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28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312" y="59680"/>
            <a:ext cx="33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150"/>
              </a:spcAft>
              <a:buNone/>
            </a:pPr>
            <a:r>
              <a:rPr lang="en-US" sz="1650" b="1" dirty="0">
                <a:solidFill>
                  <a:srgbClr val="1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GenAI Document Studio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48336" y="81186"/>
            <a:ext cx="4273322" cy="131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Feb–Dec 2026 | Phase 1: 6 Devs (£352k) | Phase 2: 2 Devs (£117k) | Total: £469,860 | MVP: 31 Jul | Full Product: 31 Dec</a:t>
            </a:r>
            <a:endParaRPr lang="en-US" sz="600" dirty="0"/>
          </a:p>
        </p:txBody>
      </p:sp>
      <p:pic>
        <p:nvPicPr>
          <p:cNvPr id="4" name="Image 0" descr="/tmp/rasterized-gradient-e510eb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98569"/>
            <a:ext cx="8686800" cy="1314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0025" y="717619"/>
            <a:ext cx="874395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MVP DEVELOPMENT (FEB - JUL 2026) | £352,395 (6 Developers) | Launch: 31 Jul 2026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28600" y="849034"/>
            <a:ext cx="1439912" cy="92273"/>
          </a:xfrm>
          <a:prstGeom prst="roundRect">
            <a:avLst>
              <a:gd name="adj" fmla="val 10323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23916" y="858559"/>
            <a:ext cx="1449279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1678037" y="849034"/>
            <a:ext cx="1439912" cy="92273"/>
          </a:xfrm>
          <a:prstGeom prst="roundRect">
            <a:avLst>
              <a:gd name="adj" fmla="val 10323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73353" y="858559"/>
            <a:ext cx="1449279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3127474" y="849034"/>
            <a:ext cx="1439912" cy="92273"/>
          </a:xfrm>
          <a:prstGeom prst="roundRect">
            <a:avLst>
              <a:gd name="adj" fmla="val 10323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122791" y="858559"/>
            <a:ext cx="1449279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4576911" y="849034"/>
            <a:ext cx="1439912" cy="92273"/>
          </a:xfrm>
          <a:prstGeom prst="roundRect">
            <a:avLst>
              <a:gd name="adj" fmla="val 1032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572228" y="858559"/>
            <a:ext cx="1449279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026348" y="849034"/>
            <a:ext cx="1439912" cy="92273"/>
          </a:xfrm>
          <a:prstGeom prst="roundRect">
            <a:avLst>
              <a:gd name="adj" fmla="val 1032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021665" y="858559"/>
            <a:ext cx="1449279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7475786" y="849034"/>
            <a:ext cx="1439912" cy="92273"/>
          </a:xfrm>
          <a:prstGeom prst="roundRect">
            <a:avLst>
              <a:gd name="adj" fmla="val 10323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471102" y="858559"/>
            <a:ext cx="1449279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228600" y="960357"/>
            <a:ext cx="1439912" cy="85725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238125" y="960357"/>
            <a:ext cx="0" cy="85725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66700" y="969882"/>
            <a:ext cx="14104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buNone/>
            </a:pPr>
            <a:r>
              <a:rPr lang="en-US" sz="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678037" y="960357"/>
            <a:ext cx="1439912" cy="85725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1687562" y="960357"/>
            <a:ext cx="0" cy="85725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716137" y="969882"/>
            <a:ext cx="14104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buNone/>
            </a:pPr>
            <a:r>
              <a:rPr lang="en-US" sz="6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Authoring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127474" y="960357"/>
            <a:ext cx="1439912" cy="85725"/>
          </a:xfrm>
          <a:prstGeom prst="roundRect">
            <a:avLst>
              <a:gd name="adj" fmla="val 11111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3136999" y="960357"/>
            <a:ext cx="0" cy="85725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165574" y="969882"/>
            <a:ext cx="14104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buNone/>
            </a:pPr>
            <a:r>
              <a:rPr lang="en-US" sz="6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 + Viz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576911" y="960357"/>
            <a:ext cx="1439912" cy="85725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586436" y="960357"/>
            <a:ext cx="0" cy="85725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15011" y="969882"/>
            <a:ext cx="14104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Narration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026348" y="960357"/>
            <a:ext cx="1439912" cy="85725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6035873" y="960357"/>
            <a:ext cx="0" cy="85725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064448" y="969882"/>
            <a:ext cx="14104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buNone/>
            </a:pPr>
            <a:r>
              <a:rPr lang="en-US" sz="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475786" y="960357"/>
            <a:ext cx="1439912" cy="85725"/>
          </a:xfrm>
          <a:prstGeom prst="roundRect">
            <a:avLst>
              <a:gd name="adj" fmla="val 11111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7485311" y="960357"/>
            <a:ext cx="0" cy="85725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513886" y="969882"/>
            <a:ext cx="14104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buNone/>
            </a:pPr>
            <a:r>
              <a:rPr lang="en-US" sz="60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Launch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228600" y="1065132"/>
            <a:ext cx="1439912" cy="888656"/>
          </a:xfrm>
          <a:prstGeom prst="roundRect">
            <a:avLst>
              <a:gd name="adj" fmla="val 79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247650" y="1074657"/>
            <a:ext cx="1401812" cy="804355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AWS infra setup </a:t>
            </a:r>
            <a:br>
              <a:rPr lang="en-US" sz="750" dirty="0"/>
            </a:br>
            <a:r>
              <a:rPr lang="en-US" sz="750" dirty="0"/>
              <a:t>• SSO/Auth </a:t>
            </a:r>
            <a:br>
              <a:rPr lang="en-US" sz="750" dirty="0"/>
            </a:br>
            <a:r>
              <a:rPr lang="en-US" sz="750" dirty="0"/>
              <a:t>• </a:t>
            </a:r>
            <a:r>
              <a:rPr lang="en-US" sz="750" dirty="0" err="1"/>
              <a:t>CSV→Parquet</a:t>
            </a:r>
            <a:r>
              <a:rPr lang="en-US" sz="750" dirty="0"/>
              <a:t> pipeline </a:t>
            </a:r>
            <a:br>
              <a:rPr lang="en-US" sz="750" dirty="0"/>
            </a:br>
            <a:r>
              <a:rPr lang="en-US" sz="750" dirty="0"/>
              <a:t>• Schema validation</a:t>
            </a:r>
            <a:br>
              <a:rPr lang="en-US" sz="750" dirty="0"/>
            </a:br>
            <a:r>
              <a:rPr lang="en-US" sz="750" dirty="0"/>
              <a:t>• CI/CD + security baseline </a:t>
            </a:r>
            <a:br>
              <a:rPr lang="en-US" sz="750" dirty="0"/>
            </a:br>
            <a:r>
              <a:rPr lang="en-US" sz="750" dirty="0"/>
              <a:t>• Backlog + sample data </a:t>
            </a:r>
            <a:br>
              <a:rPr lang="en-US" sz="750" dirty="0"/>
            </a:br>
            <a:r>
              <a:rPr lang="en-US" sz="750" dirty="0"/>
              <a:t>• End-to-End: Infra → Ingest</a:t>
            </a:r>
            <a:endParaRPr lang="en-US" sz="750" dirty="0">
              <a:effectLst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678037" y="1065132"/>
            <a:ext cx="1439912" cy="888656"/>
          </a:xfrm>
          <a:prstGeom prst="roundRect">
            <a:avLst>
              <a:gd name="adj" fmla="val 79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1697087" y="1074657"/>
            <a:ext cx="1401812" cy="714672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Block editor + params </a:t>
            </a:r>
            <a:br>
              <a:rPr lang="en-US" sz="750" dirty="0"/>
            </a:br>
            <a:r>
              <a:rPr lang="en-US" sz="750" dirty="0"/>
              <a:t>• Live preview </a:t>
            </a:r>
            <a:br>
              <a:rPr lang="en-US" sz="750" dirty="0"/>
            </a:br>
            <a:r>
              <a:rPr lang="en-US" sz="750" dirty="0"/>
              <a:t>• Core blocks (title/table/chart) </a:t>
            </a:r>
            <a:br>
              <a:rPr lang="en-US" sz="750" dirty="0"/>
            </a:br>
            <a:r>
              <a:rPr lang="en-US" sz="750" dirty="0"/>
              <a:t>• Themes/branding/blueprint </a:t>
            </a:r>
            <a:br>
              <a:rPr lang="en-US" sz="750" dirty="0"/>
            </a:br>
            <a:r>
              <a:rPr lang="en-US" sz="750" dirty="0"/>
              <a:t>• Versioning </a:t>
            </a:r>
            <a:br>
              <a:rPr lang="en-US" sz="750" dirty="0"/>
            </a:br>
            <a:r>
              <a:rPr lang="en-US" sz="750" dirty="0"/>
              <a:t>• End-to-End: Author → Preview</a:t>
            </a:r>
            <a:endParaRPr lang="en-US" sz="750" dirty="0">
              <a:effectLst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127474" y="1065132"/>
            <a:ext cx="1439912" cy="888656"/>
          </a:xfrm>
          <a:prstGeom prst="roundRect">
            <a:avLst>
              <a:gd name="adj" fmla="val 79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146524" y="1074657"/>
            <a:ext cx="1401812" cy="615996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Visual data-prep canvas </a:t>
            </a:r>
            <a:br>
              <a:rPr lang="en-US" sz="750" dirty="0"/>
            </a:br>
            <a:r>
              <a:rPr lang="en-US" sz="750" dirty="0"/>
              <a:t>• </a:t>
            </a:r>
            <a:r>
              <a:rPr lang="en-US" sz="750" dirty="0" err="1"/>
              <a:t>DuckDB</a:t>
            </a:r>
            <a:r>
              <a:rPr lang="en-US" sz="750" dirty="0"/>
              <a:t> preview </a:t>
            </a:r>
            <a:br>
              <a:rPr lang="en-US" sz="750" dirty="0"/>
            </a:br>
            <a:r>
              <a:rPr lang="en-US" sz="750" dirty="0"/>
              <a:t>• Advanced tables/charts </a:t>
            </a:r>
          </a:p>
          <a:p>
            <a:r>
              <a:rPr lang="en-US" sz="750" dirty="0"/>
              <a:t>• Export functionality</a:t>
            </a:r>
            <a:br>
              <a:rPr lang="en-US" sz="750" dirty="0"/>
            </a:br>
            <a:r>
              <a:rPr lang="en-US" sz="750" dirty="0"/>
              <a:t>• Profiling/drift alerts </a:t>
            </a:r>
            <a:br>
              <a:rPr lang="en-US" sz="750" dirty="0"/>
            </a:br>
            <a:r>
              <a:rPr lang="en-US" sz="750" dirty="0"/>
              <a:t>• End-to-End: Prep → Visualize</a:t>
            </a:r>
            <a:endParaRPr lang="en-US" sz="750" dirty="0">
              <a:effectLst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76911" y="1065132"/>
            <a:ext cx="1439912" cy="888656"/>
          </a:xfrm>
          <a:prstGeom prst="roundRect">
            <a:avLst>
              <a:gd name="adj" fmla="val 79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595961" y="1074657"/>
            <a:ext cx="1401812" cy="615996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Bedrock + RAG </a:t>
            </a:r>
            <a:br>
              <a:rPr lang="en-US" sz="750" dirty="0"/>
            </a:br>
            <a:r>
              <a:rPr lang="en-US" sz="750" dirty="0"/>
              <a:t>• Narration prompts/JSON/critique </a:t>
            </a:r>
            <a:br>
              <a:rPr lang="en-US" sz="750" dirty="0"/>
            </a:br>
            <a:r>
              <a:rPr lang="en-US" sz="750" dirty="0"/>
              <a:t>• Source highlighting/</a:t>
            </a:r>
            <a:r>
              <a:rPr lang="en-US" sz="750" dirty="0" err="1"/>
              <a:t>tracability</a:t>
            </a:r>
            <a:r>
              <a:rPr lang="en-US" sz="750" dirty="0"/>
              <a:t> </a:t>
            </a:r>
            <a:br>
              <a:rPr lang="en-US" sz="750" dirty="0"/>
            </a:br>
            <a:r>
              <a:rPr lang="en-US" sz="750" dirty="0"/>
              <a:t>• Redaction/policy </a:t>
            </a:r>
            <a:br>
              <a:rPr lang="en-US" sz="750" dirty="0"/>
            </a:br>
            <a:r>
              <a:rPr lang="en-US" sz="750" dirty="0"/>
              <a:t>• End-to-End: Grounded narration</a:t>
            </a:r>
            <a:endParaRPr lang="en-US" sz="750" dirty="0">
              <a:effectLst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026348" y="1065132"/>
            <a:ext cx="1439912" cy="888656"/>
          </a:xfrm>
          <a:prstGeom prst="roundRect">
            <a:avLst>
              <a:gd name="adj" fmla="val 79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045398" y="1074657"/>
            <a:ext cx="1401812" cy="714672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RBAC/ABAC workflows </a:t>
            </a:r>
            <a:br>
              <a:rPr lang="en-US" sz="750" dirty="0"/>
            </a:br>
            <a:r>
              <a:rPr lang="en-US" sz="750" dirty="0"/>
              <a:t>• Review/approval + collaboration + commentary + sign-off + watermarks </a:t>
            </a:r>
            <a:br>
              <a:rPr lang="en-US" sz="750" dirty="0"/>
            </a:br>
            <a:r>
              <a:rPr lang="en-US" sz="750" dirty="0"/>
              <a:t>• Provenance + logs </a:t>
            </a:r>
            <a:br>
              <a:rPr lang="en-US" sz="750" dirty="0"/>
            </a:br>
            <a:r>
              <a:rPr lang="en-US" sz="750" dirty="0"/>
              <a:t>• Security hardening/ Compliance </a:t>
            </a:r>
            <a:br>
              <a:rPr lang="en-US" sz="750" dirty="0"/>
            </a:br>
            <a:r>
              <a:rPr lang="en-US" sz="750" dirty="0"/>
              <a:t>• End-to-End: Governed run</a:t>
            </a:r>
            <a:endParaRPr lang="en-US" sz="750" dirty="0">
              <a:effectLst/>
            </a:endParaRPr>
          </a:p>
        </p:txBody>
      </p:sp>
      <p:sp>
        <p:nvSpPr>
          <p:cNvPr id="46" name="Text 43"/>
          <p:cNvSpPr/>
          <p:nvPr/>
        </p:nvSpPr>
        <p:spPr>
          <a:xfrm>
            <a:off x="7475786" y="1065132"/>
            <a:ext cx="1439912" cy="888656"/>
          </a:xfrm>
          <a:prstGeom prst="roundRect">
            <a:avLst>
              <a:gd name="adj" fmla="val 79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7494836" y="1074657"/>
            <a:ext cx="1401812" cy="714672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Scheduling + notifications </a:t>
            </a:r>
            <a:br>
              <a:rPr lang="en-US" sz="750" dirty="0"/>
            </a:br>
            <a:r>
              <a:rPr lang="en-US" sz="750" dirty="0"/>
              <a:t>• Observability dashboards/</a:t>
            </a:r>
            <a:r>
              <a:rPr lang="en-US" sz="750" dirty="0" err="1"/>
              <a:t>Cloudwatch</a:t>
            </a:r>
            <a:r>
              <a:rPr lang="en-US" sz="750" dirty="0"/>
              <a:t> </a:t>
            </a:r>
            <a:br>
              <a:rPr lang="en-US" sz="750" dirty="0"/>
            </a:br>
            <a:r>
              <a:rPr lang="en-US" sz="750" dirty="0"/>
              <a:t>• Full E2E/testing/UAT </a:t>
            </a:r>
            <a:br>
              <a:rPr lang="en-US" sz="750" dirty="0"/>
            </a:br>
            <a:r>
              <a:rPr lang="en-US" sz="750" dirty="0"/>
              <a:t>• MVP Go-Live (31 Jul) </a:t>
            </a:r>
            <a:br>
              <a:rPr lang="en-US" sz="750" dirty="0"/>
            </a:br>
            <a:r>
              <a:rPr lang="en-US" sz="750" dirty="0"/>
              <a:t>• Training/handover</a:t>
            </a:r>
            <a:endParaRPr lang="en-US" sz="750" dirty="0">
              <a:effectLst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28600" y="1896218"/>
            <a:ext cx="1439912" cy="72330"/>
          </a:xfrm>
          <a:prstGeom prst="roundRect">
            <a:avLst>
              <a:gd name="adj" fmla="val 13169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233632" y="1905743"/>
            <a:ext cx="1429848" cy="5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Infra</a:t>
            </a:r>
            <a:endParaRPr lang="en-US" sz="500" dirty="0"/>
          </a:p>
        </p:txBody>
      </p:sp>
      <p:sp>
        <p:nvSpPr>
          <p:cNvPr id="50" name="Text 47"/>
          <p:cNvSpPr/>
          <p:nvPr/>
        </p:nvSpPr>
        <p:spPr>
          <a:xfrm>
            <a:off x="1678037" y="1896218"/>
            <a:ext cx="1439912" cy="72330"/>
          </a:xfrm>
          <a:prstGeom prst="roundRect">
            <a:avLst>
              <a:gd name="adj" fmla="val 131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1683069" y="1905743"/>
            <a:ext cx="1429848" cy="5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Authoring</a:t>
            </a:r>
            <a:endParaRPr lang="en-US" sz="500" dirty="0"/>
          </a:p>
        </p:txBody>
      </p:sp>
      <p:sp>
        <p:nvSpPr>
          <p:cNvPr id="52" name="Text 49"/>
          <p:cNvSpPr/>
          <p:nvPr/>
        </p:nvSpPr>
        <p:spPr>
          <a:xfrm>
            <a:off x="3127474" y="1896218"/>
            <a:ext cx="1439912" cy="72330"/>
          </a:xfrm>
          <a:prstGeom prst="roundRect">
            <a:avLst>
              <a:gd name="adj" fmla="val 1316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3132506" y="1905743"/>
            <a:ext cx="1429848" cy="5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Data-viz</a:t>
            </a:r>
            <a:endParaRPr lang="en-US" sz="500" dirty="0"/>
          </a:p>
        </p:txBody>
      </p:sp>
      <p:sp>
        <p:nvSpPr>
          <p:cNvPr id="54" name="Text 51"/>
          <p:cNvSpPr/>
          <p:nvPr/>
        </p:nvSpPr>
        <p:spPr>
          <a:xfrm>
            <a:off x="4576911" y="1896218"/>
            <a:ext cx="1439912" cy="72330"/>
          </a:xfrm>
          <a:prstGeom prst="roundRect">
            <a:avLst>
              <a:gd name="adj" fmla="val 131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581943" y="1905743"/>
            <a:ext cx="1429848" cy="5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ready</a:t>
            </a:r>
            <a:endParaRPr lang="en-US" sz="500" dirty="0"/>
          </a:p>
        </p:txBody>
      </p:sp>
      <p:sp>
        <p:nvSpPr>
          <p:cNvPr id="56" name="Text 53"/>
          <p:cNvSpPr/>
          <p:nvPr/>
        </p:nvSpPr>
        <p:spPr>
          <a:xfrm>
            <a:off x="6026348" y="1896218"/>
            <a:ext cx="1439912" cy="72330"/>
          </a:xfrm>
          <a:prstGeom prst="roundRect">
            <a:avLst>
              <a:gd name="adj" fmla="val 1316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031380" y="1905743"/>
            <a:ext cx="1429848" cy="5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Governed</a:t>
            </a:r>
            <a:endParaRPr lang="en-US" sz="500" dirty="0"/>
          </a:p>
        </p:txBody>
      </p:sp>
      <p:sp>
        <p:nvSpPr>
          <p:cNvPr id="58" name="Text 55"/>
          <p:cNvSpPr/>
          <p:nvPr/>
        </p:nvSpPr>
        <p:spPr>
          <a:xfrm>
            <a:off x="7475786" y="1896218"/>
            <a:ext cx="1439912" cy="72330"/>
          </a:xfrm>
          <a:prstGeom prst="roundRect">
            <a:avLst>
              <a:gd name="adj" fmla="val 13169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7480817" y="1905743"/>
            <a:ext cx="1429848" cy="5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MVP Live</a:t>
            </a:r>
            <a:endParaRPr lang="en-US" sz="500" dirty="0"/>
          </a:p>
        </p:txBody>
      </p:sp>
      <p:pic>
        <p:nvPicPr>
          <p:cNvPr id="60" name="Image 1" descr="/tmp/rasterized-gradient-a8c7c4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997124"/>
            <a:ext cx="8686800" cy="131415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200025" y="2016174"/>
            <a:ext cx="874395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ADVANCED PRODUCT (AUG - DEC 2026) | £117,465 (2 Developers: Dev1 + Dev4) | Launch: 31 Dec 2026</a:t>
            </a:r>
            <a:endParaRPr lang="en-US" sz="600" dirty="0"/>
          </a:p>
        </p:txBody>
      </p:sp>
      <p:sp>
        <p:nvSpPr>
          <p:cNvPr id="62" name="Text 58"/>
          <p:cNvSpPr/>
          <p:nvPr/>
        </p:nvSpPr>
        <p:spPr>
          <a:xfrm>
            <a:off x="228600" y="2147589"/>
            <a:ext cx="1729680" cy="92273"/>
          </a:xfrm>
          <a:prstGeom prst="roundRect">
            <a:avLst>
              <a:gd name="adj" fmla="val 1032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221019" y="2157114"/>
            <a:ext cx="1744843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500" dirty="0"/>
          </a:p>
        </p:txBody>
      </p:sp>
      <p:sp>
        <p:nvSpPr>
          <p:cNvPr id="64" name="Text 60"/>
          <p:cNvSpPr/>
          <p:nvPr/>
        </p:nvSpPr>
        <p:spPr>
          <a:xfrm>
            <a:off x="1967805" y="2147589"/>
            <a:ext cx="1729680" cy="92273"/>
          </a:xfrm>
          <a:prstGeom prst="roundRect">
            <a:avLst>
              <a:gd name="adj" fmla="val 10323"/>
            </a:avLst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1960224" y="2157114"/>
            <a:ext cx="1744843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500" dirty="0"/>
          </a:p>
        </p:txBody>
      </p:sp>
      <p:sp>
        <p:nvSpPr>
          <p:cNvPr id="66" name="Text 62"/>
          <p:cNvSpPr/>
          <p:nvPr/>
        </p:nvSpPr>
        <p:spPr>
          <a:xfrm>
            <a:off x="3707011" y="2147589"/>
            <a:ext cx="1729680" cy="92273"/>
          </a:xfrm>
          <a:prstGeom prst="roundRect">
            <a:avLst>
              <a:gd name="adj" fmla="val 10323"/>
            </a:avLst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3699430" y="2157114"/>
            <a:ext cx="1744843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500" dirty="0"/>
          </a:p>
        </p:txBody>
      </p:sp>
      <p:sp>
        <p:nvSpPr>
          <p:cNvPr id="68" name="Text 64"/>
          <p:cNvSpPr/>
          <p:nvPr/>
        </p:nvSpPr>
        <p:spPr>
          <a:xfrm>
            <a:off x="5446216" y="2147589"/>
            <a:ext cx="1729680" cy="92273"/>
          </a:xfrm>
          <a:prstGeom prst="roundRect">
            <a:avLst>
              <a:gd name="adj" fmla="val 10323"/>
            </a:avLst>
          </a:prstGeom>
          <a:solidFill>
            <a:srgbClr val="CA8A0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5438635" y="2157114"/>
            <a:ext cx="1744843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500" dirty="0"/>
          </a:p>
        </p:txBody>
      </p:sp>
      <p:sp>
        <p:nvSpPr>
          <p:cNvPr id="70" name="Text 66"/>
          <p:cNvSpPr/>
          <p:nvPr/>
        </p:nvSpPr>
        <p:spPr>
          <a:xfrm>
            <a:off x="7185422" y="2147589"/>
            <a:ext cx="1729680" cy="92273"/>
          </a:xfrm>
          <a:prstGeom prst="roundRect">
            <a:avLst>
              <a:gd name="adj" fmla="val 10323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7177841" y="2157114"/>
            <a:ext cx="1744843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8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500" dirty="0"/>
          </a:p>
        </p:txBody>
      </p:sp>
      <p:sp>
        <p:nvSpPr>
          <p:cNvPr id="72" name="Text 68"/>
          <p:cNvSpPr/>
          <p:nvPr/>
        </p:nvSpPr>
        <p:spPr>
          <a:xfrm>
            <a:off x="228600" y="2258912"/>
            <a:ext cx="1729680" cy="993812"/>
          </a:xfrm>
          <a:prstGeom prst="roundRect">
            <a:avLst>
              <a:gd name="adj" fmla="val 749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69"/>
          <p:cNvSpPr/>
          <p:nvPr/>
        </p:nvSpPr>
        <p:spPr>
          <a:xfrm>
            <a:off x="238125" y="2258912"/>
            <a:ext cx="0" cy="92818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266700" y="2268437"/>
            <a:ext cx="170598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spcAft>
                <a:spcPts val="38"/>
              </a:spcAft>
              <a:buNone/>
            </a:pPr>
            <a:r>
              <a:rPr lang="en-US" sz="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+ MCP</a:t>
            </a:r>
            <a:endParaRPr lang="en-US" sz="600" dirty="0"/>
          </a:p>
        </p:txBody>
      </p:sp>
      <p:sp>
        <p:nvSpPr>
          <p:cNvPr id="75" name="Text 71"/>
          <p:cNvSpPr/>
          <p:nvPr/>
        </p:nvSpPr>
        <p:spPr>
          <a:xfrm>
            <a:off x="271463" y="2339876"/>
            <a:ext cx="1672530" cy="498280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Scenario Studio (macro packs) </a:t>
            </a:r>
            <a:br>
              <a:rPr lang="en-US" sz="750" dirty="0"/>
            </a:br>
            <a:r>
              <a:rPr lang="en-US" sz="750" dirty="0"/>
              <a:t>• Model Context Protocol (MCP) integration basics </a:t>
            </a:r>
            <a:br>
              <a:rPr lang="en-US" sz="750" dirty="0"/>
            </a:br>
            <a:r>
              <a:rPr lang="en-US" sz="750" dirty="0"/>
              <a:t>• Grounded Compare/Explain delta + drivers </a:t>
            </a:r>
            <a:br>
              <a:rPr lang="en-US" sz="750" dirty="0"/>
            </a:br>
            <a:r>
              <a:rPr lang="en-US" sz="750" dirty="0"/>
              <a:t>• Change-aware templates </a:t>
            </a:r>
            <a:br>
              <a:rPr lang="en-US" sz="750" dirty="0"/>
            </a:br>
            <a:r>
              <a:rPr lang="en-US" sz="750" dirty="0"/>
              <a:t>• Snippets library + search</a:t>
            </a:r>
            <a:endParaRPr lang="en-US" sz="750" dirty="0">
              <a:effectLst/>
            </a:endParaRPr>
          </a:p>
        </p:txBody>
      </p:sp>
      <p:sp>
        <p:nvSpPr>
          <p:cNvPr id="76" name="Text 72"/>
          <p:cNvSpPr/>
          <p:nvPr/>
        </p:nvSpPr>
        <p:spPr>
          <a:xfrm>
            <a:off x="1967805" y="2258912"/>
            <a:ext cx="1729680" cy="1013905"/>
          </a:xfrm>
          <a:prstGeom prst="roundRect">
            <a:avLst>
              <a:gd name="adj" fmla="val 74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Shape 73"/>
          <p:cNvSpPr/>
          <p:nvPr/>
        </p:nvSpPr>
        <p:spPr>
          <a:xfrm>
            <a:off x="1977330" y="2258912"/>
            <a:ext cx="0" cy="947887"/>
          </a:xfrm>
          <a:prstGeom prst="line">
            <a:avLst/>
          </a:prstGeom>
          <a:noFill/>
          <a:ln w="190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4"/>
          <p:cNvSpPr/>
          <p:nvPr/>
        </p:nvSpPr>
        <p:spPr>
          <a:xfrm>
            <a:off x="2005905" y="2268437"/>
            <a:ext cx="170598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spcAft>
                <a:spcPts val="38"/>
              </a:spcAft>
              <a:buNone/>
            </a:pPr>
            <a:r>
              <a:rPr lang="en-US" sz="6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AI</a:t>
            </a:r>
            <a:endParaRPr lang="en-US" sz="600" dirty="0"/>
          </a:p>
        </p:txBody>
      </p:sp>
      <p:sp>
        <p:nvSpPr>
          <p:cNvPr id="79" name="Text 75"/>
          <p:cNvSpPr/>
          <p:nvPr/>
        </p:nvSpPr>
        <p:spPr>
          <a:xfrm>
            <a:off x="2005905" y="2339875"/>
            <a:ext cx="1672530" cy="677701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Full MCP implementation (secure tool calling, external APIs/databases) </a:t>
            </a:r>
            <a:br>
              <a:rPr lang="en-US" sz="750" dirty="0"/>
            </a:br>
            <a:r>
              <a:rPr lang="en-US" sz="750" dirty="0"/>
              <a:t>• Advanced agentic flows (multi-pass, </a:t>
            </a:r>
            <a:r>
              <a:rPr lang="en-US" sz="750" dirty="0" err="1"/>
              <a:t>CoT</a:t>
            </a:r>
            <a:r>
              <a:rPr lang="en-US" sz="750" dirty="0"/>
              <a:t>, tool orchestration) </a:t>
            </a:r>
            <a:br>
              <a:rPr lang="en-US" sz="750" dirty="0"/>
            </a:br>
            <a:r>
              <a:rPr lang="en-US" sz="750" dirty="0"/>
              <a:t>• Hybrid RAG + re-ranking </a:t>
            </a:r>
            <a:br>
              <a:rPr lang="en-US" sz="750" dirty="0"/>
            </a:br>
            <a:r>
              <a:rPr lang="en-US" sz="750" dirty="0"/>
              <a:t>• Advanced data contracts/auto-fixes </a:t>
            </a:r>
            <a:br>
              <a:rPr lang="en-US" sz="750" dirty="0"/>
            </a:br>
            <a:r>
              <a:rPr lang="en-US" sz="750" dirty="0"/>
              <a:t>• Cost guardrails + command palette</a:t>
            </a:r>
            <a:endParaRPr lang="en-US" sz="750" dirty="0">
              <a:effectLst/>
            </a:endParaRPr>
          </a:p>
        </p:txBody>
      </p:sp>
      <p:sp>
        <p:nvSpPr>
          <p:cNvPr id="80" name="Text 76"/>
          <p:cNvSpPr/>
          <p:nvPr/>
        </p:nvSpPr>
        <p:spPr>
          <a:xfrm>
            <a:off x="3707011" y="2258912"/>
            <a:ext cx="1729680" cy="974762"/>
          </a:xfrm>
          <a:prstGeom prst="roundRect">
            <a:avLst>
              <a:gd name="adj" fmla="val 749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Shape 77"/>
          <p:cNvSpPr/>
          <p:nvPr/>
        </p:nvSpPr>
        <p:spPr>
          <a:xfrm>
            <a:off x="3716536" y="2258912"/>
            <a:ext cx="0" cy="947887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8"/>
          <p:cNvSpPr/>
          <p:nvPr/>
        </p:nvSpPr>
        <p:spPr>
          <a:xfrm>
            <a:off x="3745111" y="2268437"/>
            <a:ext cx="170598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spcAft>
                <a:spcPts val="38"/>
              </a:spcAft>
              <a:buNone/>
            </a:pPr>
            <a:r>
              <a:rPr lang="en-US" sz="6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+ Collab</a:t>
            </a:r>
            <a:endParaRPr lang="en-US" sz="600" dirty="0"/>
          </a:p>
        </p:txBody>
      </p:sp>
      <p:sp>
        <p:nvSpPr>
          <p:cNvPr id="83" name="Text 79"/>
          <p:cNvSpPr/>
          <p:nvPr/>
        </p:nvSpPr>
        <p:spPr>
          <a:xfrm>
            <a:off x="3745111" y="2339875"/>
            <a:ext cx="1672530" cy="507805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Plugin SDK (custom blocks/validators) • Real-time co-editing (y-</a:t>
            </a:r>
            <a:r>
              <a:rPr lang="en-US" sz="750" dirty="0" err="1"/>
              <a:t>js</a:t>
            </a:r>
            <a:r>
              <a:rPr lang="en-US" sz="750" dirty="0"/>
              <a:t>) </a:t>
            </a:r>
            <a:br>
              <a:rPr lang="en-US" sz="750" dirty="0"/>
            </a:br>
            <a:r>
              <a:rPr lang="en-US" sz="750" dirty="0"/>
              <a:t>• Custom chart gallery </a:t>
            </a:r>
            <a:br>
              <a:rPr lang="en-US" sz="750" dirty="0"/>
            </a:br>
            <a:r>
              <a:rPr lang="en-US" sz="750" dirty="0"/>
              <a:t>• Golden-run testing + CI regression </a:t>
            </a:r>
            <a:br>
              <a:rPr lang="en-US" sz="750" dirty="0"/>
            </a:br>
            <a:r>
              <a:rPr lang="en-US" sz="750" dirty="0"/>
              <a:t>• Ops guardrails (token ceilings, queues)</a:t>
            </a:r>
            <a:endParaRPr lang="en-US" sz="750" dirty="0">
              <a:effectLst/>
            </a:endParaRPr>
          </a:p>
        </p:txBody>
      </p:sp>
      <p:sp>
        <p:nvSpPr>
          <p:cNvPr id="84" name="Text 80"/>
          <p:cNvSpPr/>
          <p:nvPr/>
        </p:nvSpPr>
        <p:spPr>
          <a:xfrm>
            <a:off x="5446216" y="2258912"/>
            <a:ext cx="1729680" cy="993812"/>
          </a:xfrm>
          <a:prstGeom prst="roundRect">
            <a:avLst>
              <a:gd name="adj" fmla="val 749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Shape 81"/>
          <p:cNvSpPr/>
          <p:nvPr/>
        </p:nvSpPr>
        <p:spPr>
          <a:xfrm>
            <a:off x="5455741" y="2258912"/>
            <a:ext cx="0" cy="947887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/>
          <p:nvPr/>
        </p:nvSpPr>
        <p:spPr>
          <a:xfrm>
            <a:off x="5484316" y="2268437"/>
            <a:ext cx="170598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spcAft>
                <a:spcPts val="38"/>
              </a:spcAft>
              <a:buNone/>
            </a:pPr>
            <a:r>
              <a:rPr lang="en-US" sz="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600" dirty="0"/>
          </a:p>
        </p:txBody>
      </p:sp>
      <p:sp>
        <p:nvSpPr>
          <p:cNvPr id="87" name="Text 83"/>
          <p:cNvSpPr/>
          <p:nvPr/>
        </p:nvSpPr>
        <p:spPr>
          <a:xfrm>
            <a:off x="5484316" y="2339875"/>
            <a:ext cx="1672530" cy="498281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MCP-powered integrations (AWS tools, BI embeds) </a:t>
            </a:r>
            <a:br>
              <a:rPr lang="en-US" sz="750" dirty="0"/>
            </a:br>
            <a:r>
              <a:rPr lang="en-US" sz="750" dirty="0"/>
              <a:t>• Teams distribution </a:t>
            </a:r>
            <a:br>
              <a:rPr lang="en-US" sz="750" dirty="0"/>
            </a:br>
            <a:r>
              <a:rPr lang="en-US" sz="750" dirty="0"/>
              <a:t>• Accessibility (WCAG AA+) + i18n </a:t>
            </a:r>
            <a:br>
              <a:rPr lang="en-US" sz="750" dirty="0"/>
            </a:br>
            <a:r>
              <a:rPr lang="en-US" sz="750" dirty="0"/>
              <a:t>• Zero-copy + performance scaling </a:t>
            </a:r>
            <a:br>
              <a:rPr lang="en-US" sz="750" dirty="0"/>
            </a:br>
            <a:r>
              <a:rPr lang="en-US" sz="750" dirty="0"/>
              <a:t>• Advanced lineage</a:t>
            </a:r>
            <a:endParaRPr lang="en-US" sz="750" dirty="0">
              <a:effectLst/>
            </a:endParaRPr>
          </a:p>
        </p:txBody>
      </p:sp>
      <p:sp>
        <p:nvSpPr>
          <p:cNvPr id="88" name="Text 84"/>
          <p:cNvSpPr/>
          <p:nvPr/>
        </p:nvSpPr>
        <p:spPr>
          <a:xfrm>
            <a:off x="7185422" y="2258912"/>
            <a:ext cx="1729680" cy="993812"/>
          </a:xfrm>
          <a:prstGeom prst="roundRect">
            <a:avLst>
              <a:gd name="adj" fmla="val 74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89" name="Shape 85"/>
          <p:cNvSpPr/>
          <p:nvPr/>
        </p:nvSpPr>
        <p:spPr>
          <a:xfrm flipH="1">
            <a:off x="7194946" y="2258912"/>
            <a:ext cx="0" cy="90913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6"/>
          <p:cNvSpPr/>
          <p:nvPr/>
        </p:nvSpPr>
        <p:spPr>
          <a:xfrm>
            <a:off x="7223522" y="2268437"/>
            <a:ext cx="170598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"/>
              </a:lnSpc>
              <a:spcAft>
                <a:spcPts val="38"/>
              </a:spcAft>
              <a:buNone/>
            </a:pPr>
            <a:r>
              <a:rPr lang="en-US" sz="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Launch</a:t>
            </a:r>
            <a:endParaRPr lang="en-US" sz="600" dirty="0"/>
          </a:p>
        </p:txBody>
      </p:sp>
      <p:sp>
        <p:nvSpPr>
          <p:cNvPr id="91" name="Text 87"/>
          <p:cNvSpPr/>
          <p:nvPr/>
        </p:nvSpPr>
        <p:spPr>
          <a:xfrm>
            <a:off x="7223522" y="2339876"/>
            <a:ext cx="1672530" cy="441130"/>
          </a:xfrm>
          <a:prstGeom prst="rect">
            <a:avLst/>
          </a:prstGeom>
          <a:noFill/>
          <a:ln/>
        </p:spPr>
        <p:txBody>
          <a:bodyPr wrap="square" lIns="23813" tIns="0" rIns="0" bIns="0" rtlCol="0" anchor="t"/>
          <a:lstStyle/>
          <a:p>
            <a:r>
              <a:rPr lang="en-US" sz="750" dirty="0"/>
              <a:t>• Full-scale load/security testing </a:t>
            </a:r>
            <a:br>
              <a:rPr lang="en-US" sz="750" dirty="0"/>
            </a:br>
            <a:r>
              <a:rPr lang="en-US" sz="750" dirty="0"/>
              <a:t>• Visual regression suite </a:t>
            </a:r>
            <a:br>
              <a:rPr lang="en-US" sz="750" dirty="0"/>
            </a:br>
            <a:r>
              <a:rPr lang="en-US" sz="750" dirty="0"/>
              <a:t>• Production stabilization </a:t>
            </a:r>
            <a:br>
              <a:rPr lang="en-US" sz="750" dirty="0"/>
            </a:br>
            <a:r>
              <a:rPr lang="en-US" sz="750" dirty="0"/>
              <a:t>• Feedback polish </a:t>
            </a:r>
            <a:br>
              <a:rPr lang="en-US" sz="750" dirty="0"/>
            </a:br>
            <a:r>
              <a:rPr lang="en-US" sz="750" dirty="0"/>
              <a:t>• Full Product Launch (31 Dec)</a:t>
            </a:r>
            <a:endParaRPr lang="en-US" sz="750" dirty="0">
              <a:effectLst/>
            </a:endParaRPr>
          </a:p>
        </p:txBody>
      </p:sp>
      <p:sp>
        <p:nvSpPr>
          <p:cNvPr id="92" name="Text 88"/>
          <p:cNvSpPr/>
          <p:nvPr/>
        </p:nvSpPr>
        <p:spPr>
          <a:xfrm>
            <a:off x="228600" y="3200889"/>
            <a:ext cx="1729680" cy="119526"/>
          </a:xfrm>
          <a:prstGeom prst="roundRect">
            <a:avLst>
              <a:gd name="adj" fmla="val 131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9"/>
          <p:cNvSpPr/>
          <p:nvPr/>
        </p:nvSpPr>
        <p:spPr>
          <a:xfrm>
            <a:off x="230734" y="3210414"/>
            <a:ext cx="1725412" cy="8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MCP basics</a:t>
            </a:r>
            <a:endParaRPr lang="en-US" sz="500" dirty="0"/>
          </a:p>
        </p:txBody>
      </p:sp>
      <p:sp>
        <p:nvSpPr>
          <p:cNvPr id="94" name="Text 90"/>
          <p:cNvSpPr/>
          <p:nvPr/>
        </p:nvSpPr>
        <p:spPr>
          <a:xfrm>
            <a:off x="1967805" y="3200889"/>
            <a:ext cx="1729680" cy="119526"/>
          </a:xfrm>
          <a:prstGeom prst="roundRect">
            <a:avLst>
              <a:gd name="adj" fmla="val 1316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1"/>
          <p:cNvSpPr/>
          <p:nvPr/>
        </p:nvSpPr>
        <p:spPr>
          <a:xfrm>
            <a:off x="1969940" y="3210414"/>
            <a:ext cx="1725412" cy="8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AI/Gov</a:t>
            </a:r>
            <a:endParaRPr lang="en-US" sz="500" dirty="0"/>
          </a:p>
        </p:txBody>
      </p:sp>
      <p:sp>
        <p:nvSpPr>
          <p:cNvPr id="96" name="Text 92"/>
          <p:cNvSpPr/>
          <p:nvPr/>
        </p:nvSpPr>
        <p:spPr>
          <a:xfrm>
            <a:off x="3707011" y="3200889"/>
            <a:ext cx="1729680" cy="119526"/>
          </a:xfrm>
          <a:prstGeom prst="roundRect">
            <a:avLst>
              <a:gd name="adj" fmla="val 13169"/>
            </a:avLst>
          </a:prstGeom>
          <a:solidFill>
            <a:srgbClr val="FFED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3"/>
          <p:cNvSpPr/>
          <p:nvPr/>
        </p:nvSpPr>
        <p:spPr>
          <a:xfrm>
            <a:off x="3709145" y="3210414"/>
            <a:ext cx="1725412" cy="8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Plugins</a:t>
            </a:r>
            <a:endParaRPr lang="en-US" sz="500" dirty="0"/>
          </a:p>
        </p:txBody>
      </p:sp>
      <p:sp>
        <p:nvSpPr>
          <p:cNvPr id="98" name="Text 94"/>
          <p:cNvSpPr/>
          <p:nvPr/>
        </p:nvSpPr>
        <p:spPr>
          <a:xfrm>
            <a:off x="5446216" y="3200889"/>
            <a:ext cx="1729680" cy="119526"/>
          </a:xfrm>
          <a:prstGeom prst="roundRect">
            <a:avLst>
              <a:gd name="adj" fmla="val 1316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5"/>
          <p:cNvSpPr/>
          <p:nvPr/>
        </p:nvSpPr>
        <p:spPr>
          <a:xfrm>
            <a:off x="5448351" y="3210414"/>
            <a:ext cx="1725412" cy="8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500" dirty="0"/>
          </a:p>
        </p:txBody>
      </p:sp>
      <p:sp>
        <p:nvSpPr>
          <p:cNvPr id="100" name="Text 96"/>
          <p:cNvSpPr/>
          <p:nvPr/>
        </p:nvSpPr>
        <p:spPr>
          <a:xfrm>
            <a:off x="7185422" y="3200889"/>
            <a:ext cx="1729680" cy="119526"/>
          </a:xfrm>
          <a:prstGeom prst="roundRect">
            <a:avLst>
              <a:gd name="adj" fmla="val 1316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7"/>
          <p:cNvSpPr/>
          <p:nvPr/>
        </p:nvSpPr>
        <p:spPr>
          <a:xfrm>
            <a:off x="7187556" y="3210414"/>
            <a:ext cx="1725412" cy="8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"/>
              </a:lnSpc>
              <a:buNone/>
            </a:pPr>
            <a:r>
              <a:rPr lang="en-US" sz="5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V1.0 Live</a:t>
            </a:r>
            <a:endParaRPr lang="en-US" sz="500" dirty="0"/>
          </a:p>
        </p:txBody>
      </p:sp>
      <p:sp>
        <p:nvSpPr>
          <p:cNvPr id="121" name="Text 117"/>
          <p:cNvSpPr/>
          <p:nvPr/>
        </p:nvSpPr>
        <p:spPr>
          <a:xfrm>
            <a:off x="228600" y="4943089"/>
            <a:ext cx="8860536" cy="7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8"/>
              </a:lnSpc>
              <a:buNone/>
            </a:pPr>
            <a:r>
              <a:rPr lang="en-US" sz="413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Barclays Finance GenAI Innovation Lab | 11-Month Plan (Feb-Dec 2026) | Budget: £469,860 + AWS/Bedrock £30-50k | Model Context Protocol (MCP) for secure tool calling &amp; agentic flows</a:t>
            </a:r>
            <a:endParaRPr lang="en-US" sz="413" dirty="0"/>
          </a:p>
        </p:txBody>
      </p:sp>
      <p:sp>
        <p:nvSpPr>
          <p:cNvPr id="122" name="Text 1">
            <a:extLst>
              <a:ext uri="{FF2B5EF4-FFF2-40B4-BE49-F238E27FC236}">
                <a16:creationId xmlns:a16="http://schemas.microsoft.com/office/drawing/2014/main" id="{FF170CB7-125A-D748-2BE6-BB24EC3B5FB7}"/>
              </a:ext>
            </a:extLst>
          </p:cNvPr>
          <p:cNvSpPr/>
          <p:nvPr/>
        </p:nvSpPr>
        <p:spPr>
          <a:xfrm>
            <a:off x="201284" y="295423"/>
            <a:ext cx="886053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/>
              <a:t>Enterprise-grade, AI-powered Document Studio for Barclays Finance to automate publication-grade reports (PDF/DOCX/HTML) from large CSV/Parquet datasets. Enables business users to build reusable, parameterized templates with visual data prep, rich tables/charts, grounded AI narratives (Bedrock Claude Sonnet + Titan embeddings), live previews, review/approval workflows, colleague collaboration, full provenance, lineage, and auditability. Targets 70–80% reduction in manual effort for MI/regulatory reporting with strong governance, compliance, and explainability.</a:t>
            </a:r>
            <a:endParaRPr lang="en-US" sz="800" dirty="0">
              <a:effectLst/>
            </a:endParaRPr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A07AAB65-9525-F7D9-F734-EC9DF1AF1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777732"/>
              </p:ext>
            </p:extLst>
          </p:nvPr>
        </p:nvGraphicFramePr>
        <p:xfrm>
          <a:off x="2051079" y="3354539"/>
          <a:ext cx="3061610" cy="1504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873">
                  <a:extLst>
                    <a:ext uri="{9D8B030D-6E8A-4147-A177-3AD203B41FA5}">
                      <a16:colId xmlns:a16="http://schemas.microsoft.com/office/drawing/2014/main" val="4173164852"/>
                    </a:ext>
                  </a:extLst>
                </a:gridCol>
                <a:gridCol w="2484737">
                  <a:extLst>
                    <a:ext uri="{9D8B030D-6E8A-4147-A177-3AD203B41FA5}">
                      <a16:colId xmlns:a16="http://schemas.microsoft.com/office/drawing/2014/main" val="1557291581"/>
                    </a:ext>
                  </a:extLst>
                </a:gridCol>
              </a:tblGrid>
              <a:tr h="1982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600" dirty="0"/>
                        <a:t>Category</a:t>
                      </a:r>
                    </a:p>
                  </a:txBody>
                  <a:tcPr marL="32953" marR="32953" marT="16476" marB="164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600" dirty="0"/>
                        <a:t>Details</a:t>
                      </a:r>
                    </a:p>
                  </a:txBody>
                  <a:tcPr marL="32953" marR="32953" marT="16476" marB="16476" anchor="ctr"/>
                </a:tc>
                <a:extLst>
                  <a:ext uri="{0D108BD9-81ED-4DB2-BD59-A6C34878D82A}">
                    <a16:rowId xmlns:a16="http://schemas.microsoft.com/office/drawing/2014/main" val="2231033001"/>
                  </a:ext>
                </a:extLst>
              </a:tr>
              <a:tr h="7033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Business Benefits</a:t>
                      </a:r>
                      <a:endParaRPr 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70–80% reduction in manual effort for MI/regulatory reporting Standardized, consistent outputs across Finance Faster report cycles (daily/quarterly automation) Enhanced accuracy &amp; compliance via grounding + human approval Explainable AI with full provenance for auditors Self-service for business users (no IT dependency) Cost control through token guardrails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439403"/>
                  </a:ext>
                </a:extLst>
              </a:tr>
              <a:tr h="602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Success Metrics</a:t>
                      </a:r>
                      <a:endParaRPr lang="en-US" sz="700" dirty="0"/>
                    </a:p>
                    <a:p>
                      <a:pPr algn="ctr"/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MVP live: 31 Jul 2026 Full Product live: 31 Dec 2026 Preview latency: p95 &lt;1.2s First-pass QA acceptance: ≥90% Narrative factual accuracy: ≥97% Manual effort reduction: 80%+ User adoption: 100+ templates &amp; active users by Dec Run success rate: ≥99% Cost per document: Within target (via dashboards) Cache hit rate: ≥60%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880120"/>
                  </a:ext>
                </a:extLst>
              </a:tr>
            </a:tbl>
          </a:graphicData>
        </a:graphic>
      </p:graphicFrame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50D3F103-9D68-3B44-80BC-E024B9821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965053"/>
              </p:ext>
            </p:extLst>
          </p:nvPr>
        </p:nvGraphicFramePr>
        <p:xfrm>
          <a:off x="5112689" y="3348135"/>
          <a:ext cx="2110833" cy="15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91">
                  <a:extLst>
                    <a:ext uri="{9D8B030D-6E8A-4147-A177-3AD203B41FA5}">
                      <a16:colId xmlns:a16="http://schemas.microsoft.com/office/drawing/2014/main" val="4173164852"/>
                    </a:ext>
                  </a:extLst>
                </a:gridCol>
                <a:gridCol w="1554242">
                  <a:extLst>
                    <a:ext uri="{9D8B030D-6E8A-4147-A177-3AD203B41FA5}">
                      <a16:colId xmlns:a16="http://schemas.microsoft.com/office/drawing/2014/main" val="1557291581"/>
                    </a:ext>
                  </a:extLst>
                </a:gridCol>
              </a:tblGrid>
              <a:tr h="180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600" dirty="0"/>
                        <a:t>Category</a:t>
                      </a:r>
                    </a:p>
                  </a:txBody>
                  <a:tcPr marL="32953" marR="32953" marT="16476" marB="164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600" dirty="0"/>
                        <a:t>Details</a:t>
                      </a:r>
                    </a:p>
                  </a:txBody>
                  <a:tcPr marL="32953" marR="32953" marT="16476" marB="16476" anchor="ctr"/>
                </a:tc>
                <a:extLst>
                  <a:ext uri="{0D108BD9-81ED-4DB2-BD59-A6C34878D82A}">
                    <a16:rowId xmlns:a16="http://schemas.microsoft.com/office/drawing/2014/main" val="2231033001"/>
                  </a:ext>
                </a:extLst>
              </a:tr>
              <a:tr h="7306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/>
                        <a:t>Assumptions</a:t>
                      </a:r>
                      <a:endParaRPr 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Data sets identified and available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AWS/Bedrock access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SMEs available throughout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No major scope changes; monthly steering reviews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Reduced Phase 2 team sufficient for targeted enhancements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439403"/>
                  </a:ext>
                </a:extLst>
              </a:tr>
              <a:tr h="5992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Risks</a:t>
                      </a:r>
                      <a:endParaRPr lang="en-US" sz="700" dirty="0"/>
                    </a:p>
                    <a:p>
                      <a:pPr algn="ctr"/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Timeline Slip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MCP Integration Complexity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Phase 2 Bandwidth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Advanced AI/Security Issues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Cost Overruns (tokens/cloud)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880120"/>
                  </a:ext>
                </a:extLst>
              </a:tr>
            </a:tbl>
          </a:graphicData>
        </a:graphic>
      </p:graphicFrame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3CDB4DE7-5ADD-D913-BDCE-5E5E08C89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553389"/>
              </p:ext>
            </p:extLst>
          </p:nvPr>
        </p:nvGraphicFramePr>
        <p:xfrm>
          <a:off x="7223522" y="3333779"/>
          <a:ext cx="1672530" cy="153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530">
                  <a:extLst>
                    <a:ext uri="{9D8B030D-6E8A-4147-A177-3AD203B41FA5}">
                      <a16:colId xmlns:a16="http://schemas.microsoft.com/office/drawing/2014/main" val="3300699268"/>
                    </a:ext>
                  </a:extLst>
                </a:gridCol>
              </a:tblGrid>
              <a:tr h="219099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Tech 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759511"/>
                  </a:ext>
                </a:extLst>
              </a:tr>
              <a:tr h="1318711">
                <a:tc>
                  <a:txBody>
                    <a:bodyPr/>
                    <a:lstStyle/>
                    <a:p>
                      <a:r>
                        <a:rPr lang="en-US" sz="600" dirty="0"/>
                        <a:t>Next.js (React), Blueprint + Tailwind, AG Grid, Recharts/</a:t>
                      </a:r>
                      <a:r>
                        <a:rPr lang="en-US" sz="600" dirty="0" err="1"/>
                        <a:t>ECharts</a:t>
                      </a:r>
                      <a:r>
                        <a:rPr lang="en-US" sz="600" dirty="0"/>
                        <a:t>, React Query</a:t>
                      </a:r>
                    </a:p>
                    <a:p>
                      <a:r>
                        <a:rPr lang="en-US" sz="600" dirty="0" err="1"/>
                        <a:t>FastAPI</a:t>
                      </a:r>
                      <a:r>
                        <a:rPr lang="en-US" sz="600" dirty="0"/>
                        <a:t> (Python) or </a:t>
                      </a:r>
                      <a:r>
                        <a:rPr lang="en-US" sz="600" dirty="0" err="1"/>
                        <a:t>NestJS</a:t>
                      </a:r>
                      <a:r>
                        <a:rPr lang="en-US" sz="600" dirty="0"/>
                        <a:t> Services, IAM, BAM</a:t>
                      </a:r>
                    </a:p>
                    <a:p>
                      <a:r>
                        <a:rPr lang="en-US" sz="600" dirty="0"/>
                        <a:t>GitLab pipeline, EKS, Lambda; SQS; Step Functions</a:t>
                      </a:r>
                    </a:p>
                    <a:p>
                      <a:r>
                        <a:rPr lang="en-US" sz="600" dirty="0"/>
                        <a:t>S3 (raw CSV, Parquet, outputs), DynamoDB/Postgres (metadata), </a:t>
                      </a:r>
                      <a:r>
                        <a:rPr lang="en-US" sz="600" dirty="0" err="1"/>
                        <a:t>ElastiCache</a:t>
                      </a:r>
                      <a:r>
                        <a:rPr lang="en-US" sz="600" dirty="0"/>
                        <a:t>/Redis</a:t>
                      </a:r>
                    </a:p>
                    <a:p>
                      <a:r>
                        <a:rPr lang="en-US" sz="600" dirty="0" err="1"/>
                        <a:t>DuckDB</a:t>
                      </a:r>
                      <a:r>
                        <a:rPr lang="en-US" sz="600" dirty="0"/>
                        <a:t>/Arrow,  Athena</a:t>
                      </a:r>
                    </a:p>
                    <a:p>
                      <a:r>
                        <a:rPr lang="en-US" sz="600" dirty="0"/>
                        <a:t>S3 Vectors or </a:t>
                      </a:r>
                      <a:r>
                        <a:rPr lang="en-US" sz="600" dirty="0" err="1"/>
                        <a:t>pgvector</a:t>
                      </a:r>
                      <a:r>
                        <a:rPr lang="en-US" sz="600" dirty="0"/>
                        <a:t> on Aurora/Postgres</a:t>
                      </a:r>
                    </a:p>
                    <a:p>
                      <a:r>
                        <a:rPr lang="en-US" sz="600" dirty="0"/>
                        <a:t>AWS Bedrock, Claude Sonnet 4.5, Titan embeddings</a:t>
                      </a:r>
                    </a:p>
                    <a:p>
                      <a:r>
                        <a:rPr lang="en-US" sz="600" dirty="0"/>
                        <a:t>CSM, Secrets Manager, CloudWatch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880039"/>
                  </a:ext>
                </a:extLst>
              </a:tr>
            </a:tbl>
          </a:graphicData>
        </a:graphic>
      </p:graphicFrame>
      <p:graphicFrame>
        <p:nvGraphicFramePr>
          <p:cNvPr id="128" name="Table 127">
            <a:extLst>
              <a:ext uri="{FF2B5EF4-FFF2-40B4-BE49-F238E27FC236}">
                <a16:creationId xmlns:a16="http://schemas.microsoft.com/office/drawing/2014/main" id="{EE726BE9-E168-CF09-D92F-8F019F73F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013836"/>
              </p:ext>
            </p:extLst>
          </p:nvPr>
        </p:nvGraphicFramePr>
        <p:xfrm>
          <a:off x="228600" y="3354539"/>
          <a:ext cx="1777306" cy="1517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653">
                  <a:extLst>
                    <a:ext uri="{9D8B030D-6E8A-4147-A177-3AD203B41FA5}">
                      <a16:colId xmlns:a16="http://schemas.microsoft.com/office/drawing/2014/main" val="926229645"/>
                    </a:ext>
                  </a:extLst>
                </a:gridCol>
                <a:gridCol w="888653">
                  <a:extLst>
                    <a:ext uri="{9D8B030D-6E8A-4147-A177-3AD203B41FA5}">
                      <a16:colId xmlns:a16="http://schemas.microsoft.com/office/drawing/2014/main" val="885269650"/>
                    </a:ext>
                  </a:extLst>
                </a:gridCol>
              </a:tblGrid>
              <a:tr h="379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</a:rPr>
                        <a:t>Cost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</a:rPr>
                        <a:t>Amount (£)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550827"/>
                  </a:ext>
                </a:extLst>
              </a:tr>
              <a:tr h="379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</a:rPr>
                        <a:t>Phase 1 Team (6 </a:t>
                      </a:r>
                      <a:r>
                        <a:rPr lang="en-US" sz="800" dirty="0" err="1">
                          <a:effectLst/>
                        </a:rPr>
                        <a:t>devs</a:t>
                      </a:r>
                      <a:r>
                        <a:rPr lang="en-US" sz="800" dirty="0">
                          <a:effectLst/>
                        </a:rPr>
                        <a:t>, 6 months)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</a:rPr>
                        <a:t>352,395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836931"/>
                  </a:ext>
                </a:extLst>
              </a:tr>
              <a:tr h="379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</a:rPr>
                        <a:t>Phase 2 Team (2 </a:t>
                      </a:r>
                      <a:r>
                        <a:rPr lang="en-US" sz="800" dirty="0" err="1">
                          <a:effectLst/>
                        </a:rPr>
                        <a:t>devs</a:t>
                      </a:r>
                      <a:r>
                        <a:rPr lang="en-US" sz="800" dirty="0">
                          <a:effectLst/>
                        </a:rPr>
                        <a:t>, 5 months)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</a:rPr>
                        <a:t>117,465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730868"/>
                  </a:ext>
                </a:extLst>
              </a:tr>
              <a:tr h="379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</a:rPr>
                        <a:t>Total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</a:rPr>
                        <a:t>469,860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4220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93304-52BC-082A-825C-402709F10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018708"/>
              </p:ext>
            </p:extLst>
          </p:nvPr>
        </p:nvGraphicFramePr>
        <p:xfrm>
          <a:off x="1157682" y="505945"/>
          <a:ext cx="6434355" cy="4195428"/>
        </p:xfrm>
        <a:graphic>
          <a:graphicData uri="http://schemas.openxmlformats.org/drawingml/2006/table">
            <a:tbl>
              <a:tblPr/>
              <a:tblGrid>
                <a:gridCol w="1124342">
                  <a:extLst>
                    <a:ext uri="{9D8B030D-6E8A-4147-A177-3AD203B41FA5}">
                      <a16:colId xmlns:a16="http://schemas.microsoft.com/office/drawing/2014/main" val="815538909"/>
                    </a:ext>
                  </a:extLst>
                </a:gridCol>
                <a:gridCol w="3165228">
                  <a:extLst>
                    <a:ext uri="{9D8B030D-6E8A-4147-A177-3AD203B41FA5}">
                      <a16:colId xmlns:a16="http://schemas.microsoft.com/office/drawing/2014/main" val="4137351112"/>
                    </a:ext>
                  </a:extLst>
                </a:gridCol>
                <a:gridCol w="2144785">
                  <a:extLst>
                    <a:ext uri="{9D8B030D-6E8A-4147-A177-3AD203B41FA5}">
                      <a16:colId xmlns:a16="http://schemas.microsoft.com/office/drawing/2014/main" val="3536216837"/>
                    </a:ext>
                  </a:extLst>
                </a:gridCol>
              </a:tblGrid>
              <a:tr h="169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Layer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Components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Details / Purpose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849049"/>
                  </a:ext>
                </a:extLst>
              </a:tr>
              <a:tr h="602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Frontend</a:t>
                      </a:r>
                      <a:endParaRPr lang="en-US" sz="100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Next.js (React), </a:t>
                      </a:r>
                      <a:r>
                        <a:rPr lang="en-US" sz="1000" dirty="0" err="1"/>
                        <a:t>shadcn</a:t>
                      </a:r>
                      <a:r>
                        <a:rPr lang="en-US" sz="1000" dirty="0"/>
                        <a:t>/</a:t>
                      </a:r>
                      <a:r>
                        <a:rPr lang="en-US" sz="1000" dirty="0" err="1"/>
                        <a:t>ui</a:t>
                      </a:r>
                      <a:r>
                        <a:rPr lang="en-US" sz="1000" dirty="0"/>
                        <a:t> + Tailwind, AG Grid, Recharts/</a:t>
                      </a:r>
                      <a:r>
                        <a:rPr lang="en-US" sz="1000" dirty="0" err="1"/>
                        <a:t>ECharts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TipTap</a:t>
                      </a:r>
                      <a:r>
                        <a:rPr lang="en-US" sz="1000" dirty="0"/>
                        <a:t>, React Query, Redux Toolkit (editor), optional y-</a:t>
                      </a:r>
                      <a:r>
                        <a:rPr lang="en-US" sz="1000" dirty="0" err="1"/>
                        <a:t>js</a:t>
                      </a:r>
                      <a:r>
                        <a:rPr lang="en-US" sz="1000" dirty="0"/>
                        <a:t> (later for co-editing)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Modern, responsive UI: three-pane builder, live preview, drag-drop blocks, theming (Barclays branding, dark/light). Fast state management and querying.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502257"/>
                  </a:ext>
                </a:extLst>
              </a:tr>
              <a:tr h="458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APIs</a:t>
                      </a:r>
                      <a:endParaRPr lang="en-US" sz="1000" dirty="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FastAPI</a:t>
                      </a:r>
                      <a:r>
                        <a:rPr lang="en-US" sz="1000" dirty="0"/>
                        <a:t> (Python) or </a:t>
                      </a:r>
                      <a:r>
                        <a:rPr lang="en-US" sz="1000" dirty="0" err="1"/>
                        <a:t>NestJS</a:t>
                      </a:r>
                      <a:r>
                        <a:rPr lang="en-US" sz="1000" dirty="0"/>
                        <a:t> Services: Template, Data-Prep, Preview, Narration, Render, Runs, References, </a:t>
                      </a:r>
                      <a:r>
                        <a:rPr lang="en-US" sz="1000" dirty="0" err="1"/>
                        <a:t>AuthZ</a:t>
                      </a:r>
                      <a:endParaRPr lang="en-US" sz="1000" dirty="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Microservices architecture: modular, scalable endpoints for all operations (e.g., narration calls Bedrock securely).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84952"/>
                  </a:ext>
                </a:extLst>
              </a:tr>
              <a:tr h="602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Compute</a:t>
                      </a:r>
                      <a:endParaRPr lang="en-US" sz="100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EKS for services; Lambda for burst jobs; SQS for work queues; Step Functions for long-running generations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Horizontal scaling; async processing for previews/runs; orchestration for multi-step workflows (data → narration → render).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993495"/>
                  </a:ext>
                </a:extLst>
              </a:tr>
              <a:tr h="602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Storage</a:t>
                      </a:r>
                      <a:endParaRPr lang="en-US" sz="100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S3 (raw CSV, Parquet, outputs, manifests) DynamoDB/Postgres (metadata) </a:t>
                      </a:r>
                      <a:r>
                        <a:rPr lang="en-US" sz="1000" dirty="0" err="1"/>
                        <a:t>ElastiCache</a:t>
                      </a:r>
                      <a:r>
                        <a:rPr lang="en-US" sz="1000" dirty="0"/>
                        <a:t>/Redis (cache)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Durable, versioned storage; fast metadata access; aggressive caching for previews (template + params + data hash).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183832"/>
                  </a:ext>
                </a:extLst>
              </a:tr>
              <a:tr h="313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Analytics</a:t>
                      </a:r>
                      <a:endParaRPr lang="en-US" sz="100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DuckDB</a:t>
                      </a:r>
                      <a:r>
                        <a:rPr lang="en-US" sz="1000" dirty="0"/>
                        <a:t>/Arrow (preview &amp; many full runs) Athena (very large scans)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Zero-copy, fast execution on Parquet; fallback for massive datasets.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116200"/>
                  </a:ext>
                </a:extLst>
              </a:tr>
              <a:tr h="313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Vectors</a:t>
                      </a:r>
                      <a:endParaRPr lang="en-US" sz="100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S3 Vectors or </a:t>
                      </a:r>
                      <a:r>
                        <a:rPr lang="en-US" sz="1000" dirty="0" err="1"/>
                        <a:t>pgvector</a:t>
                      </a:r>
                      <a:r>
                        <a:rPr lang="en-US" sz="1000" dirty="0"/>
                        <a:t> on Aurora/Postgres; Titan embeddings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Efficient RAG grounding over approved corpus; scalable retrieval.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115559"/>
                  </a:ext>
                </a:extLst>
              </a:tr>
              <a:tr h="458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Identity/Security</a:t>
                      </a:r>
                      <a:endParaRPr lang="en-US" sz="100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Cognito or enterprise OIDC/SAML; KMS; Secrets Manager; CloudFront + WAF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SSO, RBAC/ABAC, encryption at rest/transit, DDoS protection, column masking.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229260"/>
                  </a:ext>
                </a:extLst>
              </a:tr>
              <a:tr h="458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Observability</a:t>
                      </a:r>
                      <a:endParaRPr lang="en-US" sz="1000"/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CloudWatch, </a:t>
                      </a:r>
                      <a:r>
                        <a:rPr lang="en-US" sz="1000" dirty="0" err="1"/>
                        <a:t>OpenTelemetry</a:t>
                      </a:r>
                      <a:r>
                        <a:rPr lang="en-US" sz="1000" dirty="0"/>
                        <a:t> traces, Sentry; cost dashboards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Metrics (latency/tokens/cache), traces, error tracking; admin visibility into usage/costs.</a:t>
                      </a:r>
                    </a:p>
                  </a:txBody>
                  <a:tcPr marL="25891" marR="25891" marT="12946" marB="1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7285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D77F20-F344-ADDA-F56B-26E64D0659E2}"/>
              </a:ext>
            </a:extLst>
          </p:cNvPr>
          <p:cNvSpPr txBox="1"/>
          <p:nvPr/>
        </p:nvSpPr>
        <p:spPr>
          <a:xfrm>
            <a:off x="719592" y="0"/>
            <a:ext cx="501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Technical Architecture (High-Level, AWS-Aligned)</a:t>
            </a:r>
          </a:p>
        </p:txBody>
      </p:sp>
    </p:spTree>
    <p:extLst>
      <p:ext uri="{BB962C8B-B14F-4D97-AF65-F5344CB8AC3E}">
        <p14:creationId xmlns:p14="http://schemas.microsoft.com/office/powerpoint/2010/main" val="279185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B00C0A-7599-9638-1183-09E07C38A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574976"/>
              </p:ext>
            </p:extLst>
          </p:nvPr>
        </p:nvGraphicFramePr>
        <p:xfrm>
          <a:off x="410081" y="645050"/>
          <a:ext cx="7718850" cy="3594590"/>
        </p:xfrm>
        <a:graphic>
          <a:graphicData uri="http://schemas.openxmlformats.org/drawingml/2006/table">
            <a:tbl>
              <a:tblPr/>
              <a:tblGrid>
                <a:gridCol w="2572950">
                  <a:extLst>
                    <a:ext uri="{9D8B030D-6E8A-4147-A177-3AD203B41FA5}">
                      <a16:colId xmlns:a16="http://schemas.microsoft.com/office/drawing/2014/main" val="2306425867"/>
                    </a:ext>
                  </a:extLst>
                </a:gridCol>
                <a:gridCol w="2572950">
                  <a:extLst>
                    <a:ext uri="{9D8B030D-6E8A-4147-A177-3AD203B41FA5}">
                      <a16:colId xmlns:a16="http://schemas.microsoft.com/office/drawing/2014/main" val="3786715106"/>
                    </a:ext>
                  </a:extLst>
                </a:gridCol>
                <a:gridCol w="2572950">
                  <a:extLst>
                    <a:ext uri="{9D8B030D-6E8A-4147-A177-3AD203B41FA5}">
                      <a16:colId xmlns:a16="http://schemas.microsoft.com/office/drawing/2014/main" val="1570325865"/>
                    </a:ext>
                  </a:extLst>
                </a:gridCol>
              </a:tblGrid>
              <a:tr h="115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Category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Item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Details / Mitigation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142507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Assumptions</a:t>
                      </a:r>
                      <a:endParaRPr lang="en-US" sz="1000" dirty="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AWS/Bedrock access (incl. MCP support) from 01 Feb 2026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Pre-approved accounts; early prototyping if delayed.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23274"/>
                  </a:ext>
                </a:extLst>
              </a:tr>
              <a:tr h="2020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Sample datasets/corpus available mid-Feb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Business provides early for testing/AI grounding.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26658"/>
                  </a:ext>
                </a:extLst>
              </a:tr>
              <a:tr h="37531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SMEs available 4–8 </a:t>
                      </a:r>
                      <a:r>
                        <a:rPr lang="en-US" sz="1000" dirty="0" err="1"/>
                        <a:t>hrs</a:t>
                      </a:r>
                      <a:r>
                        <a:rPr lang="en-US" sz="1000" dirty="0"/>
                        <a:t>/week throughout (increased for Phase 2 MCP)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For prompt validation, UAT, and feedback.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393649"/>
                  </a:ext>
                </a:extLst>
              </a:tr>
              <a:tr h="2020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No major scope changes; monthly steering reviews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Gated via </a:t>
                      </a:r>
                      <a:r>
                        <a:rPr lang="en-US" sz="1000" dirty="0" err="1"/>
                        <a:t>MoSCoW</a:t>
                      </a:r>
                      <a:r>
                        <a:rPr lang="en-US" sz="1000" dirty="0"/>
                        <a:t> and change control.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150186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Reduced Phase 2 team sufficient for targeted enhancements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MVP stability allows focused work; contingency for +1 dev.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104672"/>
                  </a:ext>
                </a:extLst>
              </a:tr>
              <a:tr h="3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Risks</a:t>
                      </a: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Timeline Slip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Mitigation: Monthly milestones + Dec buffer; early MVP de-risks Phase 2.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502979"/>
                  </a:ext>
                </a:extLst>
              </a:tr>
              <a:tr h="37531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MCP Integration Complexity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Mitigation: Prototype in Phase 1; leverage AWS Bedrock MCP servers/best practices.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028576"/>
                  </a:ext>
                </a:extLst>
              </a:tr>
              <a:tr h="37531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Phase 2 Bandwidth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Mitigation: High-priority features only; contingency +1 dev if needed.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355880"/>
                  </a:ext>
                </a:extLst>
              </a:tr>
              <a:tr h="37531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Advanced AI/Security Issues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Mitigation: Iterative testing; strict MCP security (tool approval/logging).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936842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/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Cost Overruns (tokens/cloud)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Mitigation: Enhanced guardrails/dashboards; reduced team in Phase 2.</a:t>
                      </a:r>
                    </a:p>
                  </a:txBody>
                  <a:tcPr marL="28870" marR="28870" marT="14435" marB="144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9273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532F279-8B46-D523-095C-8BD7F9BF7D8F}"/>
              </a:ext>
            </a:extLst>
          </p:cNvPr>
          <p:cNvSpPr txBox="1"/>
          <p:nvPr/>
        </p:nvSpPr>
        <p:spPr>
          <a:xfrm>
            <a:off x="298174" y="1214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Assumptions &amp; Risks</a:t>
            </a:r>
          </a:p>
        </p:txBody>
      </p:sp>
    </p:spTree>
    <p:extLst>
      <p:ext uri="{BB962C8B-B14F-4D97-AF65-F5344CB8AC3E}">
        <p14:creationId xmlns:p14="http://schemas.microsoft.com/office/powerpoint/2010/main" val="56870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90B7C7-EF67-5CDF-55BD-D92F1DC638C6}"/>
              </a:ext>
            </a:extLst>
          </p:cNvPr>
          <p:cNvSpPr txBox="1"/>
          <p:nvPr/>
        </p:nvSpPr>
        <p:spPr>
          <a:xfrm>
            <a:off x="170953" y="1373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Business Benefits &amp; Success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280803-25D2-F8DB-8059-FD0841879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656990"/>
              </p:ext>
            </p:extLst>
          </p:nvPr>
        </p:nvGraphicFramePr>
        <p:xfrm>
          <a:off x="750497" y="1059462"/>
          <a:ext cx="7159926" cy="3315853"/>
        </p:xfrm>
        <a:graphic>
          <a:graphicData uri="http://schemas.openxmlformats.org/drawingml/2006/table">
            <a:tbl>
              <a:tblPr/>
              <a:tblGrid>
                <a:gridCol w="2386642">
                  <a:extLst>
                    <a:ext uri="{9D8B030D-6E8A-4147-A177-3AD203B41FA5}">
                      <a16:colId xmlns:a16="http://schemas.microsoft.com/office/drawing/2014/main" val="3674451687"/>
                    </a:ext>
                  </a:extLst>
                </a:gridCol>
                <a:gridCol w="2386642">
                  <a:extLst>
                    <a:ext uri="{9D8B030D-6E8A-4147-A177-3AD203B41FA5}">
                      <a16:colId xmlns:a16="http://schemas.microsoft.com/office/drawing/2014/main" val="4278098312"/>
                    </a:ext>
                  </a:extLst>
                </a:gridCol>
                <a:gridCol w="2386642">
                  <a:extLst>
                    <a:ext uri="{9D8B030D-6E8A-4147-A177-3AD203B41FA5}">
                      <a16:colId xmlns:a16="http://schemas.microsoft.com/office/drawing/2014/main" val="1017502992"/>
                    </a:ext>
                  </a:extLst>
                </a:gridCol>
              </a:tblGrid>
              <a:tr h="131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Category</a:t>
                      </a:r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Details</a:t>
                      </a:r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Target / KPI Details</a:t>
                      </a:r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336195"/>
                  </a:ext>
                </a:extLst>
              </a:tr>
              <a:tr h="1614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Business Benefits</a:t>
                      </a:r>
                      <a:endParaRPr lang="en-US" sz="1000"/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70–80% reduction in manual effort for MI/regulatory reporting Standardized, consistent outputs across Finance Faster report cycles (daily/quarterly automation) Enhanced accuracy &amp; compliance via grounding + human approval Explainable AI with full provenance for auditors Self-service for business users (no IT dependency) Cost control through token guardrails</a:t>
                      </a:r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Aligns with Barclays Standards/Blueprint and Document Generation tracks. Shifts from manual CSV → Word/PDF to parameterized, AI-assisted document studio. Enables scenario/stress testing and variance explanations.</a:t>
                      </a:r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900835"/>
                  </a:ext>
                </a:extLst>
              </a:tr>
              <a:tr h="1515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Success Metrics</a:t>
                      </a:r>
                      <a:endParaRPr lang="en-US" sz="1000"/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MVP live: 31 Jul 2026 Full Product live: 31 Dec 2026 Preview latency: p95 &lt;1.2s First-pass QA acceptance: ≥90% Narrative factual accuracy: ≥97% Manual effort reduction: 80%+ User adoption: 100+ templates &amp; active users by Dec Run success rate: ≥99% Cost per document: Within target (via dashboards) Cache hit rate: ≥60%</a:t>
                      </a:r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Measured via authoring time (≤2 days to first template), grounding coverage ≥95%, defects &lt;0.5%, and post-launch surveys.</a:t>
                      </a:r>
                    </a:p>
                  </a:txBody>
                  <a:tcPr marL="32953" marR="32953" marT="16476" marB="16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764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35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785359-033E-D236-B018-5364327C2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81892"/>
              </p:ext>
            </p:extLst>
          </p:nvPr>
        </p:nvGraphicFramePr>
        <p:xfrm>
          <a:off x="327803" y="465826"/>
          <a:ext cx="8428008" cy="4251709"/>
        </p:xfrm>
        <a:graphic>
          <a:graphicData uri="http://schemas.openxmlformats.org/drawingml/2006/table">
            <a:tbl>
              <a:tblPr/>
              <a:tblGrid>
                <a:gridCol w="2809336">
                  <a:extLst>
                    <a:ext uri="{9D8B030D-6E8A-4147-A177-3AD203B41FA5}">
                      <a16:colId xmlns:a16="http://schemas.microsoft.com/office/drawing/2014/main" val="2306373739"/>
                    </a:ext>
                  </a:extLst>
                </a:gridCol>
                <a:gridCol w="2809336">
                  <a:extLst>
                    <a:ext uri="{9D8B030D-6E8A-4147-A177-3AD203B41FA5}">
                      <a16:colId xmlns:a16="http://schemas.microsoft.com/office/drawing/2014/main" val="1632802362"/>
                    </a:ext>
                  </a:extLst>
                </a:gridCol>
                <a:gridCol w="2809336">
                  <a:extLst>
                    <a:ext uri="{9D8B030D-6E8A-4147-A177-3AD203B41FA5}">
                      <a16:colId xmlns:a16="http://schemas.microsoft.com/office/drawing/2014/main" val="3038504910"/>
                    </a:ext>
                  </a:extLst>
                </a:gridCol>
              </a:tblGrid>
              <a:tr h="113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Aspect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Details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Breakdown / Notes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773594"/>
                  </a:ext>
                </a:extLst>
              </a:tr>
              <a:tr h="453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Phase 1 (MVP: Feb–Jul 2026)</a:t>
                      </a:r>
                      <a:endParaRPr lang="en-US" sz="900"/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6 Full-Time Developers Total Cost: £352,395 (6 months, salaries only)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Full team for rapid MVP delivery of all Must-Haves. Focus on core features, governance, and launch.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123555"/>
                  </a:ext>
                </a:extLst>
              </a:tr>
              <a:tr h="453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Dev1 (Lead/Arch/AI)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Annual: £211,000 6-Mo Cost: £105,500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Leads architecture, AI integration (Bedrock/RAG), and overall technical direction.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742370"/>
                  </a:ext>
                </a:extLst>
              </a:tr>
              <a:tr h="36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Dev2 (Backend/API)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Annual: £152,216 6-Mo Cost: £76,108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Handles FastAPI services, orchestration (Step Functions/SQS), and data pipelines.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263288"/>
                  </a:ext>
                </a:extLst>
              </a:tr>
              <a:tr h="36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Dev3 (Infra/Sec)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Annual: £17,646 6-Mo Cost: £8,823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Manages AWS infra, security (KMS/WAF), CI/CD, and compliance hardening.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73617"/>
                  </a:ext>
                </a:extLst>
              </a:tr>
              <a:tr h="28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Dev4 (Frontend)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Annual: £119,112 6-Mo Cost: £59,556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Builds Next.js UI, block editor, three-pane layout, and live preview.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038472"/>
                  </a:ext>
                </a:extLst>
              </a:tr>
              <a:tr h="36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Dev5 (UI/UX/Viz)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Annual: £95,395 6-Mo Cost: £47,698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Focuses on shadcn/Tailwind theming, charts/tables (ECharts), and accessibility.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340553"/>
                  </a:ext>
                </a:extLst>
              </a:tr>
              <a:tr h="36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Dev6 (Data/Perf/RAG)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Annual: £109,420 6-Mo Cost: £54,710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Handles DuckDB previews, Parquet pipelines, performance tuning, and Titan vectors.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17212"/>
                  </a:ext>
                </a:extLst>
              </a:tr>
              <a:tr h="28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Phase 2 (Advanced: Aug–Dec 2026)</a:t>
                      </a:r>
                      <a:endParaRPr lang="en-US" sz="900"/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 Developers (reduced team) Total Cost: £117,465 (5 months)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Focused enhancements (MCP, agentics, plugins); leverages MVP stability.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707168"/>
                  </a:ext>
                </a:extLst>
              </a:tr>
              <a:tr h="36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Dev1 (Lead/Advanced AI/MCP)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Annual: £211,000 Monthly: £17,583 5-Mo Cost: £87,915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Leads Phase 2 AI advancements, MCP integration, and agentic flows.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222153"/>
                  </a:ext>
                </a:extLst>
              </a:tr>
              <a:tr h="28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Dev4 (Frontend/Plugins)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Annual: £119,112 Monthly: £9,926 5-Mo Cost: £29,550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Handles UI extensions (plugins, co-editing, command palette).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385150"/>
                  </a:ext>
                </a:extLst>
              </a:tr>
              <a:tr h="453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Total Project</a:t>
                      </a:r>
                      <a:endParaRPr lang="en-US" sz="900"/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11 months Team Salaries: £469,860 Additional Est.: AWS/Bedrock £30–50k + Tools £8k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Salaries only; cloud costs separate (tokens/compute). Cost control via Phase 2 reduction (~1/3).</a:t>
                      </a:r>
                    </a:p>
                  </a:txBody>
                  <a:tcPr marL="22193" marR="22193" marT="11096" marB="11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2681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FDE32D1-8D99-C15F-4B15-990F2ED57ABA}"/>
              </a:ext>
            </a:extLst>
          </p:cNvPr>
          <p:cNvSpPr txBox="1"/>
          <p:nvPr/>
        </p:nvSpPr>
        <p:spPr>
          <a:xfrm>
            <a:off x="178904" y="566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Team and Cost Breakdown</a:t>
            </a:r>
          </a:p>
        </p:txBody>
      </p:sp>
    </p:spTree>
    <p:extLst>
      <p:ext uri="{BB962C8B-B14F-4D97-AF65-F5344CB8AC3E}">
        <p14:creationId xmlns:p14="http://schemas.microsoft.com/office/powerpoint/2010/main" val="156042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2090</Words>
  <Application>Microsoft Office PowerPoint</Application>
  <PresentationFormat>On-screen Show (16:9)</PresentationFormat>
  <Paragraphs>190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GenAI Document Studio - 6 Month Project Plan</dc:title>
  <dc:subject>PptxGenJS Presentation</dc:subject>
  <dc:creator>Barclays Finance GenAI Innovation Lab</dc:creator>
  <cp:lastModifiedBy>Veerabadran Sudhakar</cp:lastModifiedBy>
  <cp:revision>2</cp:revision>
  <dcterms:created xsi:type="dcterms:W3CDTF">2026-01-07T11:09:29Z</dcterms:created>
  <dcterms:modified xsi:type="dcterms:W3CDTF">2026-01-07T13:04:13Z</dcterms:modified>
</cp:coreProperties>
</file>